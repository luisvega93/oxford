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net cash flow</c:v>
                </c:pt>
              </c:strCache>
            </c:strRef>
          </c:tx>
          <c:spPr>
            <a:ln w="34925" cap="flat">
              <a:solidFill>
                <a:srgbClr val="6E7D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E7D5B"/>
              </a:solidFill>
              <a:ln w="9525" cap="flat">
                <a:solidFill>
                  <a:srgbClr val="6E7D5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0.25312499999999999</c:v>
                </c:pt>
                <c:pt idx="4">
                  <c:v>19.517188000000001</c:v>
                </c:pt>
                <c:pt idx="5">
                  <c:v>60.210937999999999</c:v>
                </c:pt>
                <c:pt idx="6">
                  <c:v>93.448437999999996</c:v>
                </c:pt>
                <c:pt idx="7">
                  <c:v>100.75</c:v>
                </c:pt>
                <c:pt idx="8">
                  <c:v>104.6875</c:v>
                </c:pt>
                <c:pt idx="9">
                  <c:v>108.625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A2-41F0-829A-CE202668B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D7D1C6"/>
              </a:solidFill>
              <a:prstDash val="solid"/>
              <a:round/>
            </a:ln>
          </c:spPr>
        </c:majorGridlines>
        <c:numFmt formatCode="\$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 w="12700" cap="flat">
          <a:solidFill>
            <a:srgbClr val="F4F0E8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880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workbook: /mnt/data/The Commons Model v3.xlsx (Business Alternatives; Results_10yr).
- User-uploaded deck: /mnt/data/march ppt (finance).pptx (original two-slide finance draft).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workbook: /mnt/data/The Commons Model v3.xlsx, sheet "Business Alternatives" (Alternative 5 summary, comparison table, yearly cumulative cash flow).
- User-uploaded workbook: /mnt/data/The Commons Model v3.xlsx, sheet "Results_10yr" (scenario totals for broker, royalty, platform; model basis assumptions).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5760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 Broker + Royalty +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9966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streams: transaction access, IP royalties, and recurring platform fees—without taking development balance-sheet risk.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3232" y="1901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2267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67004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Landowner–developer deal origination.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3127248"/>
            <a:ext cx="32735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equivalent to 5% of homes sold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receipts track closings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4352544" y="1901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52544" y="2267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52544" y="267004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plan + design + manifesto.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52544" y="3127248"/>
            <a:ext cx="32735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royalty on gross home sales in Projects 2+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scales without funding construction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7991856" y="1901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91856" y="2267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91856" y="267004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community operating layer.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91856" y="3127248"/>
            <a:ext cx="32735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fee per occupied home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as communities are delivered and occupied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4178808" y="1938528"/>
            <a:ext cx="0" cy="3273552"/>
          </a:xfrm>
          <a:prstGeom prst="line">
            <a:avLst/>
          </a:prstGeom>
          <a:noFill/>
          <a:ln w="1397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818120" y="1938528"/>
            <a:ext cx="0" cy="3273552"/>
          </a:xfrm>
          <a:prstGeom prst="line">
            <a:avLst/>
          </a:prstGeom>
          <a:noFill/>
          <a:ln w="1397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85800" y="5907024"/>
            <a:ext cx="10817352" cy="0"/>
          </a:xfrm>
          <a:prstGeom prst="line">
            <a:avLst/>
          </a:prstGeom>
          <a:noFill/>
          <a:ln w="1397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85800" y="599846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takeaway: we capture transaction, IP, and recurring platform economics while staying capital-light.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474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COMMONS | 10-YEAR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5760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9966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cash-efficient option: &gt;$100M of 10-year net cash flow and no capital drawdown.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$151.3M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10-YR REVENUE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01568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$108.6M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01568" y="18653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10-YR NET CF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89904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89904" y="18653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10-YR NET CF MARGIN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0" y="1481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0" y="186537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72968" y="1481328"/>
            <a:ext cx="0" cy="512064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861304" y="1481328"/>
            <a:ext cx="0" cy="512064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549640" y="1481328"/>
            <a:ext cx="0" cy="512064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13232" y="206654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mix: </a:t>
            </a:r>
            <a:r>
              <a:rPr lang="en-US" sz="1250" b="1" dirty="0">
                <a:solidFill>
                  <a:srgbClr val="6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37%</a:t>
            </a:r>
            <a:r>
              <a:rPr lang="en-US" sz="12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250" b="1" dirty="0">
                <a:solidFill>
                  <a:srgbClr val="A7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 30%</a:t>
            </a:r>
            <a:r>
              <a:rPr lang="en-US" sz="12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250" b="1" dirty="0">
                <a:solidFill>
                  <a:srgbClr val="6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33%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" y="2404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net cash flow ($M)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6243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from Year 4; reaches $108.6M by Year 10.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24928" y="2377440"/>
            <a:ext cx="0" cy="341985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aphicFrame>
        <p:nvGraphicFramePr>
          <p:cNvPr id="20" name="Chart 0"/>
          <p:cNvGraphicFramePr/>
          <p:nvPr/>
        </p:nvGraphicFramePr>
        <p:xfrm>
          <a:off x="713232" y="2807208"/>
          <a:ext cx="6446520" cy="285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7635240" y="2404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across 5 business models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635240" y="26243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5 is the only model that combines &gt;$100M net CF with no drawdown.</a:t>
            </a:r>
            <a:endParaRPr lang="en-US" sz="1130" dirty="0"/>
          </a:p>
        </p:txBody>
      </p:sp>
      <p:sp>
        <p:nvSpPr>
          <p:cNvPr id="23" name="Shape 20"/>
          <p:cNvSpPr/>
          <p:nvPr/>
        </p:nvSpPr>
        <p:spPr>
          <a:xfrm>
            <a:off x="7635240" y="3054096"/>
            <a:ext cx="3867912" cy="393192"/>
          </a:xfrm>
          <a:prstGeom prst="rect">
            <a:avLst/>
          </a:prstGeom>
          <a:solidFill>
            <a:srgbClr val="6E7D5B"/>
          </a:solidFill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9628632" y="3054096"/>
            <a:ext cx="0" cy="393192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0543032" y="3054096"/>
            <a:ext cx="0" cy="393192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7708392" y="3104388"/>
            <a:ext cx="1847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060" dirty="0"/>
          </a:p>
        </p:txBody>
      </p:sp>
      <p:sp>
        <p:nvSpPr>
          <p:cNvPr id="27" name="Text 24"/>
          <p:cNvSpPr/>
          <p:nvPr/>
        </p:nvSpPr>
        <p:spPr>
          <a:xfrm>
            <a:off x="9665208" y="3108960"/>
            <a:ext cx="841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10-yr Net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</a:t>
            </a:r>
            <a:endParaRPr lang="en-US" sz="1060" dirty="0"/>
          </a:p>
        </p:txBody>
      </p:sp>
      <p:sp>
        <p:nvSpPr>
          <p:cNvPr id="28" name="Text 25"/>
          <p:cNvSpPr/>
          <p:nvPr/>
        </p:nvSpPr>
        <p:spPr>
          <a:xfrm>
            <a:off x="10579608" y="310896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Req.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7635240" y="3447288"/>
            <a:ext cx="3867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9628632" y="3447288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10543032" y="3447288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7708392" y="349758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Broker + Dev + Royalty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9665208" y="350215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$147.5M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10579608" y="3502152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9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($140.4M)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7635240" y="3758184"/>
            <a:ext cx="3867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9628632" y="3758184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10543032" y="3758184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7708392" y="3808476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Ops + Platform + Broker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9665208" y="38130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$80.4M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10579608" y="3813048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9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($0.4M)</a:t>
            </a:r>
            <a:endParaRPr lang="en-US" sz="1020" dirty="0"/>
          </a:p>
        </p:txBody>
      </p:sp>
      <p:sp>
        <p:nvSpPr>
          <p:cNvPr id="41" name="Shape 38"/>
          <p:cNvSpPr/>
          <p:nvPr/>
        </p:nvSpPr>
        <p:spPr>
          <a:xfrm>
            <a:off x="7635240" y="4069080"/>
            <a:ext cx="3867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39"/>
          <p:cNvSpPr/>
          <p:nvPr/>
        </p:nvSpPr>
        <p:spPr>
          <a:xfrm>
            <a:off x="9628632" y="4069080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10543032" y="4069080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7708392" y="411937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Broker + Dev + Fractionals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9665208" y="412394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$204.5M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10579608" y="4123944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9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($112.5M)</a:t>
            </a:r>
            <a:endParaRPr lang="en-US" sz="1020" dirty="0"/>
          </a:p>
        </p:txBody>
      </p:sp>
      <p:sp>
        <p:nvSpPr>
          <p:cNvPr id="47" name="Shape 44"/>
          <p:cNvSpPr/>
          <p:nvPr/>
        </p:nvSpPr>
        <p:spPr>
          <a:xfrm>
            <a:off x="7635240" y="4379976"/>
            <a:ext cx="386791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9628632" y="4379976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10543032" y="4379976"/>
            <a:ext cx="0" cy="310896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/>
          <p:nvPr/>
        </p:nvSpPr>
        <p:spPr>
          <a:xfrm>
            <a:off x="7708392" y="44302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Dev + Fractionals + Ops</a:t>
            </a:r>
            <a:endParaRPr lang="en-US" sz="1020" dirty="0"/>
          </a:p>
        </p:txBody>
      </p:sp>
      <p:sp>
        <p:nvSpPr>
          <p:cNvPr id="51" name="Text 48"/>
          <p:cNvSpPr/>
          <p:nvPr/>
        </p:nvSpPr>
        <p:spPr>
          <a:xfrm>
            <a:off x="9665208" y="44348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$166.2M</a:t>
            </a:r>
            <a:endParaRPr lang="en-US" sz="1020" dirty="0"/>
          </a:p>
        </p:txBody>
      </p:sp>
      <p:sp>
        <p:nvSpPr>
          <p:cNvPr id="52" name="Text 49"/>
          <p:cNvSpPr/>
          <p:nvPr/>
        </p:nvSpPr>
        <p:spPr>
          <a:xfrm>
            <a:off x="10579608" y="4434840"/>
            <a:ext cx="88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9B5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($107.6M)</a:t>
            </a:r>
            <a:endParaRPr lang="en-US" sz="1020" dirty="0"/>
          </a:p>
        </p:txBody>
      </p:sp>
      <p:sp>
        <p:nvSpPr>
          <p:cNvPr id="53" name="Shape 50"/>
          <p:cNvSpPr/>
          <p:nvPr/>
        </p:nvSpPr>
        <p:spPr>
          <a:xfrm>
            <a:off x="7635240" y="4690872"/>
            <a:ext cx="3867912" cy="365760"/>
          </a:xfrm>
          <a:prstGeom prst="rect">
            <a:avLst/>
          </a:prstGeom>
          <a:solidFill>
            <a:srgbClr val="E7E0D3"/>
          </a:solidFill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1"/>
          <p:cNvSpPr/>
          <p:nvPr/>
        </p:nvSpPr>
        <p:spPr>
          <a:xfrm>
            <a:off x="9628632" y="4690872"/>
            <a:ext cx="0" cy="365760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2"/>
          <p:cNvSpPr/>
          <p:nvPr/>
        </p:nvSpPr>
        <p:spPr>
          <a:xfrm>
            <a:off x="10543032" y="4690872"/>
            <a:ext cx="0" cy="365760"/>
          </a:xfrm>
          <a:prstGeom prst="line">
            <a:avLst/>
          </a:prstGeom>
          <a:noFill/>
          <a:ln w="1270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7708392" y="474116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Broker + Royalty +</a:t>
            </a:r>
            <a:endParaRPr lang="en-US" sz="1020" dirty="0"/>
          </a:p>
          <a:p>
            <a:pPr marL="0" indent="0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20" dirty="0"/>
          </a:p>
        </p:txBody>
      </p:sp>
      <p:sp>
        <p:nvSpPr>
          <p:cNvPr id="57" name="Text 54"/>
          <p:cNvSpPr/>
          <p:nvPr/>
        </p:nvSpPr>
        <p:spPr>
          <a:xfrm>
            <a:off x="9665208" y="474573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$108.6M</a:t>
            </a:r>
            <a:endParaRPr lang="en-US" sz="1020" dirty="0"/>
          </a:p>
        </p:txBody>
      </p:sp>
      <p:sp>
        <p:nvSpPr>
          <p:cNvPr id="58" name="Text 55"/>
          <p:cNvSpPr/>
          <p:nvPr/>
        </p:nvSpPr>
        <p:spPr>
          <a:xfrm>
            <a:off x="10579608" y="474573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020" dirty="0"/>
          </a:p>
        </p:txBody>
      </p:sp>
      <p:sp>
        <p:nvSpPr>
          <p:cNvPr id="59" name="Text 56"/>
          <p:cNvSpPr/>
          <p:nvPr/>
        </p:nvSpPr>
        <p:spPr>
          <a:xfrm>
            <a:off x="7635240" y="537667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i="1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less absolute upside than developer-heavy paths, but dramatically lower capital intensity and execution risk.</a:t>
            </a:r>
            <a:endParaRPr lang="en-US" sz="1110" dirty="0"/>
          </a:p>
        </p:txBody>
      </p:sp>
      <p:sp>
        <p:nvSpPr>
          <p:cNvPr id="60" name="Shape 57"/>
          <p:cNvSpPr/>
          <p:nvPr/>
        </p:nvSpPr>
        <p:spPr>
          <a:xfrm>
            <a:off x="685800" y="6126480"/>
            <a:ext cx="10817352" cy="0"/>
          </a:xfrm>
          <a:prstGeom prst="line">
            <a:avLst/>
          </a:prstGeom>
          <a:noFill/>
          <a:ln w="13970">
            <a:solidFill>
              <a:srgbClr val="D7D1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8"/>
          <p:cNvSpPr/>
          <p:nvPr/>
        </p:nvSpPr>
        <p:spPr>
          <a:xfrm>
            <a:off x="685800" y="6208776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basis: 5 projects over 10 years; average 150 units per project.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436</Words>
  <Application>Microsoft Office PowerPoint</Application>
  <PresentationFormat>Panorámica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Commons — Alternative 5</dc:title>
  <dc:subject>The Commons finance slides</dc:subject>
  <dc:creator>OpenAI</dc:creator>
  <cp:lastModifiedBy>Luis Vega</cp:lastModifiedBy>
  <cp:revision>2</cp:revision>
  <dcterms:created xsi:type="dcterms:W3CDTF">2026-03-09T20:10:59Z</dcterms:created>
  <dcterms:modified xsi:type="dcterms:W3CDTF">2026-03-10T00:43:20Z</dcterms:modified>
</cp:coreProperties>
</file>